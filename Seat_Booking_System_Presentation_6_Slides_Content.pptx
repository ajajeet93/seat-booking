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Hybrid Office Seat Booking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9D6E6"/>
                </a:solidFill>
              </a:defRPr>
            </a:pPr>
            <a:r>
              <a:t>Project USP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64240" cy="5120640"/>
          </a:xfrm>
          <a:prstGeom prst="roundRect">
            <a:avLst/>
          </a:prstGeom>
          <a:solidFill>
            <a:srgbClr val="F8FBFF"/>
          </a:solidFill>
          <a:ln>
            <a:solidFill>
              <a:srgbClr val="D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669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540"/>
                </a:solidFill>
              </a:defRPr>
            </a:pPr>
            <a:r>
              <a:t>Project USP</a:t>
            </a:r>
          </a:p>
          <a:p>
            <a:pPr>
              <a:defRPr sz="1700">
                <a:solidFill>
                  <a:srgbClr val="1F2A37"/>
                </a:solidFill>
              </a:defRPr>
            </a:pPr>
            <a:r>
              <a:t>Rule-first booking engine (not UI-only validation)</a:t>
            </a:r>
          </a:p>
          <a:p>
            <a:pPr>
              <a:defRPr sz="1700">
                <a:solidFill>
                  <a:srgbClr val="1F2A37"/>
                </a:solidFill>
              </a:defRPr>
            </a:pPr>
            <a:r>
              <a:t>Prevents conflicts using DB constraints + transaction locking</a:t>
            </a:r>
          </a:p>
          <a:p>
            <a:pPr>
              <a:defRPr sz="1700">
                <a:solidFill>
                  <a:srgbClr val="1F2A37"/>
                </a:solidFill>
              </a:defRPr>
            </a:pPr>
            <a:r>
              <a:t>Dynamic floating capacity from released designated seats</a:t>
            </a:r>
          </a:p>
          <a:p>
            <a:pPr>
              <a:defRPr sz="1700">
                <a:solidFill>
                  <a:srgbClr val="1F2A37"/>
                </a:solidFill>
              </a:defRPr>
            </a:pPr>
            <a:r>
              <a:t>Corporate, production-style UI with clear policy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011680"/>
            <a:ext cx="4206240" cy="2011680"/>
          </a:xfrm>
          <a:prstGeom prst="roundRect">
            <a:avLst/>
          </a:prstGeom>
          <a:solidFill>
            <a:srgbClr val="144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80 Employees</a:t>
            </a:r>
            <a:br/>
            <a:r>
              <a:t>50 Seats</a:t>
            </a:r>
            <a:br/>
            <a:r>
              <a:t>2 Batches</a:t>
            </a:r>
            <a:br/>
            <a:r>
              <a:t>10 Squads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676"/>
                </a:solidFill>
              </a:defRPr>
            </a:pPr>
            <a:r>
              <a:t>Corporate Internal Tool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Architecture and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9D6E6"/>
                </a:solidFill>
              </a:defRPr>
            </a:pPr>
            <a:r>
              <a:t>Seat Booking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577840" cy="5303520"/>
          </a:xfrm>
          <a:prstGeom prst="roundRect">
            <a:avLst/>
          </a:prstGeom>
          <a:solidFill>
            <a:srgbClr val="F8FBFF"/>
          </a:solidFill>
          <a:ln>
            <a:solidFill>
              <a:srgbClr val="CF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39"/>
            <a:ext cx="5212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A37"/>
                </a:solidFill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51663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A37"/>
                </a:solidFill>
              </a:defRPr>
            </a:pPr>
            <a:r>
              <a:t>Frontend (React + Tailwind) captures user actions.</a:t>
            </a:r>
          </a:p>
          <a:p>
            <a:pPr>
              <a:defRPr sz="1400">
                <a:solidFill>
                  <a:srgbClr val="1F2A37"/>
                </a:solidFill>
              </a:defRPr>
            </a:pPr>
            <a:r>
              <a:t>Backend validates weekly rotation and booking eligibility.</a:t>
            </a:r>
          </a:p>
          <a:p>
            <a:pPr>
              <a:defRPr sz="1400">
                <a:solidFill>
                  <a:srgbClr val="1F2A37"/>
                </a:solidFill>
              </a:defRPr>
            </a:pPr>
            <a:r>
              <a:t>PostgreSQL enforces one-seat-per-user/day and seat conflict prevention.</a:t>
            </a:r>
          </a:p>
          <a:p>
            <a:pPr>
              <a:defRPr sz="1400">
                <a:solidFill>
                  <a:srgbClr val="1F2A37"/>
                </a:solidFill>
              </a:defRPr>
            </a:pPr>
            <a:r>
              <a:t>Release action converts seat to temporary floating capacity.</a:t>
            </a:r>
          </a:p>
          <a:p>
            <a:pPr>
              <a:defRPr sz="1400">
                <a:solidFill>
                  <a:srgbClr val="1F2A37"/>
                </a:solidFill>
              </a:defRPr>
            </a:pPr>
            <a:r>
              <a:t>APIs return policy context, not only raw seat lists.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463040"/>
            <a:ext cx="4754880" cy="1097280"/>
          </a:xfrm>
          <a:prstGeom prst="roundRect">
            <a:avLst/>
          </a:prstGeom>
          <a:solidFill>
            <a:srgbClr val="E4F1FC"/>
          </a:solidFill>
          <a:ln>
            <a:solidFill>
              <a:srgbClr val="AD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A37"/>
                </a:solidFill>
              </a:defRPr>
            </a:pPr>
            <a:r>
              <a:t>Frontend</a:t>
            </a:r>
            <a:br/>
            <a:r>
              <a:t>React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017520"/>
            <a:ext cx="4754880" cy="1097280"/>
          </a:xfrm>
          <a:prstGeom prst="roundRect">
            <a:avLst/>
          </a:prstGeom>
          <a:solidFill>
            <a:srgbClr val="E1F6FA"/>
          </a:solidFill>
          <a:ln>
            <a:solidFill>
              <a:srgbClr val="AD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A37"/>
                </a:solidFill>
              </a:defRPr>
            </a:pPr>
            <a:r>
              <a:t>Backend</a:t>
            </a:r>
            <a:br/>
            <a:r>
              <a:t>Node/Express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572000"/>
            <a:ext cx="4754880" cy="1097280"/>
          </a:xfrm>
          <a:prstGeom prst="roundRect">
            <a:avLst/>
          </a:prstGeom>
          <a:solidFill>
            <a:srgbClr val="E8F7EC"/>
          </a:solidFill>
          <a:ln>
            <a:solidFill>
              <a:srgbClr val="AD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A37"/>
                </a:solidFill>
              </a:defRPr>
            </a:pPr>
            <a:r>
              <a:t>Database</a:t>
            </a:r>
            <a:br/>
            <a:r>
              <a:t>PostgreSQL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676"/>
                </a:solidFill>
              </a:defRPr>
            </a:pPr>
            <a:r>
              <a:t>Corporate Internal Tool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Screen 1: Secure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9D6E6"/>
                </a:solidFill>
              </a:defRPr>
            </a:pPr>
            <a:r>
              <a:t>Seat Booking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577840" cy="5303520"/>
          </a:xfrm>
          <a:prstGeom prst="roundRect">
            <a:avLst/>
          </a:prstGeom>
          <a:solidFill>
            <a:srgbClr val="F8FBFF"/>
          </a:solidFill>
          <a:ln>
            <a:solidFill>
              <a:srgbClr val="CF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39"/>
            <a:ext cx="5212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A37"/>
                </a:solidFill>
              </a:defRPr>
            </a:pPr>
            <a:r>
              <a:t>What this screen demonstrates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51663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A37"/>
                </a:solidFill>
              </a:defRPr>
            </a:pPr>
            <a:r>
              <a:t>Simple employee authentication flow.</a:t>
            </a:r>
          </a:p>
          <a:p>
            <a:pPr>
              <a:defRPr sz="1400">
                <a:solidFill>
                  <a:srgbClr val="1F2A37"/>
                </a:solidFill>
              </a:defRPr>
            </a:pPr>
            <a:r>
              <a:t>JWT-based backend login API.</a:t>
            </a:r>
          </a:p>
          <a:p>
            <a:pPr>
              <a:defRPr sz="1400">
                <a:solidFill>
                  <a:srgbClr val="1F2A37"/>
                </a:solidFill>
              </a:defRPr>
            </a:pPr>
            <a:r>
              <a:t>Clean, internal-tool visual style.</a:t>
            </a:r>
          </a:p>
          <a:p>
            <a:pPr>
              <a:defRPr sz="1400">
                <a:solidFill>
                  <a:srgbClr val="1F2A37"/>
                </a:solidFill>
              </a:defRPr>
            </a:pPr>
            <a:r>
              <a:t>Fast access to protected booking features.</a:t>
            </a:r>
          </a:p>
          <a:p>
            <a:pPr>
              <a:defRPr sz="1400">
                <a:solidFill>
                  <a:srgbClr val="1F2A37"/>
                </a:solidFill>
              </a:defRPr>
            </a:pPr>
            <a:r>
              <a:t>Foundation for role-based access (Admin/Employee).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394960" cy="5303520"/>
          </a:xfrm>
          <a:prstGeom prst="roundRect">
            <a:avLst/>
          </a:prstGeom>
          <a:solidFill>
            <a:srgbClr val="E9F0F8"/>
          </a:solidFill>
          <a:ln>
            <a:solidFill>
              <a:srgbClr val="B9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 2026-02-26 1604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565192"/>
            <a:ext cx="5120640" cy="236769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60196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676"/>
                </a:solidFill>
              </a:defRPr>
            </a:pPr>
            <a:r>
              <a:t>Corporate Internal Tool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Screen 2: Dashboard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9D6E6"/>
                </a:solidFill>
              </a:defRPr>
            </a:pPr>
            <a:r>
              <a:t>Seat Booking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577840" cy="5303520"/>
          </a:xfrm>
          <a:prstGeom prst="roundRect">
            <a:avLst/>
          </a:prstGeom>
          <a:solidFill>
            <a:srgbClr val="F8FBFF"/>
          </a:solidFill>
          <a:ln>
            <a:solidFill>
              <a:srgbClr val="CF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39"/>
            <a:ext cx="5212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A37"/>
                </a:solidFill>
              </a:defRPr>
            </a:pPr>
            <a: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51663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A37"/>
                </a:solidFill>
              </a:defRPr>
            </a:pPr>
            <a:r>
              <a:t>Shows active batch and current rotation context.</a:t>
            </a:r>
          </a:p>
          <a:p>
            <a:pPr>
              <a:defRPr sz="1400">
                <a:solidFill>
                  <a:srgbClr val="1F2A37"/>
                </a:solidFill>
              </a:defRPr>
            </a:pPr>
            <a:r>
              <a:t>Displays seat and floating capacity indicators.</a:t>
            </a:r>
          </a:p>
          <a:p>
            <a:pPr>
              <a:defRPr sz="1400">
                <a:solidFill>
                  <a:srgbClr val="1F2A37"/>
                </a:solidFill>
              </a:defRPr>
            </a:pPr>
            <a:r>
              <a:t>Highlights actionable policy summary for users.</a:t>
            </a:r>
          </a:p>
          <a:p>
            <a:pPr>
              <a:defRPr sz="1400">
                <a:solidFill>
                  <a:srgbClr val="1F2A37"/>
                </a:solidFill>
              </a:defRPr>
            </a:pPr>
            <a:r>
              <a:t>Includes quick booking/release navigation.</a:t>
            </a:r>
          </a:p>
          <a:p>
            <a:pPr>
              <a:defRPr sz="1400">
                <a:solidFill>
                  <a:srgbClr val="1F2A37"/>
                </a:solidFill>
              </a:defRPr>
            </a:pPr>
            <a:r>
              <a:t>Provides real-time operational clarity.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394960" cy="5303520"/>
          </a:xfrm>
          <a:prstGeom prst="roundRect">
            <a:avLst/>
          </a:prstGeom>
          <a:solidFill>
            <a:srgbClr val="E9F0F8"/>
          </a:solidFill>
          <a:ln>
            <a:solidFill>
              <a:srgbClr val="B9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 2026-02-26 160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578416"/>
            <a:ext cx="5120640" cy="23412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60196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676"/>
                </a:solidFill>
              </a:defRPr>
            </a:pPr>
            <a:r>
              <a:t>Corporate Internal Tool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Screen 3: Rule-Based Seat Booking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9D6E6"/>
                </a:solidFill>
              </a:defRPr>
            </a:pPr>
            <a:r>
              <a:t>Seat Booking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577840" cy="5303520"/>
          </a:xfrm>
          <a:prstGeom prst="roundRect">
            <a:avLst/>
          </a:prstGeom>
          <a:solidFill>
            <a:srgbClr val="F8FBFF"/>
          </a:solidFill>
          <a:ln>
            <a:solidFill>
              <a:srgbClr val="CF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39"/>
            <a:ext cx="5212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A37"/>
                </a:solidFill>
              </a:defRPr>
            </a:pPr>
            <a:r>
              <a:t>Key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51663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A37"/>
                </a:solidFill>
              </a:defRPr>
            </a:pPr>
            <a:r>
              <a:t>Seat statuses: available, floating, booked, your seat, released.</a:t>
            </a:r>
          </a:p>
          <a:p>
            <a:pPr>
              <a:defRPr sz="1400">
                <a:solidFill>
                  <a:srgbClr val="1F2A37"/>
                </a:solidFill>
              </a:defRPr>
            </a:pPr>
            <a:r>
              <a:t>Policy window awareness (batch-day vs non-batch-day).</a:t>
            </a:r>
          </a:p>
          <a:p>
            <a:pPr>
              <a:defRPr sz="1400">
                <a:solidFill>
                  <a:srgbClr val="1F2A37"/>
                </a:solidFill>
              </a:defRPr>
            </a:pPr>
            <a:r>
              <a:t>One-click quick book and release options.</a:t>
            </a:r>
          </a:p>
          <a:p>
            <a:pPr>
              <a:defRPr sz="1400">
                <a:solidFill>
                  <a:srgbClr val="1F2A37"/>
                </a:solidFill>
              </a:defRPr>
            </a:pPr>
            <a:r>
              <a:t>Backend-driven seat visibility filtering.</a:t>
            </a:r>
          </a:p>
          <a:p>
            <a:pPr>
              <a:defRPr sz="1400">
                <a:solidFill>
                  <a:srgbClr val="1F2A37"/>
                </a:solidFill>
              </a:defRPr>
            </a:pPr>
            <a:r>
              <a:t>Invalid actions blocked with clear user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394960" cy="5303520"/>
          </a:xfrm>
          <a:prstGeom prst="roundRect">
            <a:avLst/>
          </a:prstGeom>
          <a:solidFill>
            <a:srgbClr val="E9F0F8"/>
          </a:solidFill>
          <a:ln>
            <a:solidFill>
              <a:srgbClr val="B9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 2026-02-26 1604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585622"/>
            <a:ext cx="5120640" cy="232683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60196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676"/>
                </a:solidFill>
              </a:defRPr>
            </a:pPr>
            <a:r>
              <a:t>Corporate Internal Tool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Outcome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82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9D6E6"/>
                </a:solidFill>
              </a:defRPr>
            </a:pPr>
            <a:r>
              <a:t>Seat Booking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400800" cy="4754880"/>
          </a:xfrm>
          <a:prstGeom prst="roundRect">
            <a:avLst/>
          </a:prstGeom>
          <a:solidFill>
            <a:srgbClr val="F8FBFF"/>
          </a:solidFill>
          <a:ln>
            <a:solidFill>
              <a:srgbClr val="CF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A37"/>
                </a:solidFill>
              </a:defRPr>
            </a:pPr>
            <a:r>
              <a:t>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5989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A37"/>
                </a:solidFill>
              </a:defRPr>
            </a:pPr>
            <a:r>
              <a:t>Complete frontend + backend integration.</a:t>
            </a:r>
          </a:p>
          <a:p>
            <a:pPr>
              <a:defRPr sz="1400">
                <a:solidFill>
                  <a:srgbClr val="1F2A37"/>
                </a:solidFill>
              </a:defRPr>
            </a:pPr>
            <a:r>
              <a:t>All critical booking rules enforced server-side.</a:t>
            </a:r>
          </a:p>
          <a:p>
            <a:pPr>
              <a:defRPr sz="1400">
                <a:solidFill>
                  <a:srgbClr val="1F2A37"/>
                </a:solidFill>
              </a:defRPr>
            </a:pPr>
            <a:r>
              <a:t>Transaction-safe booking and release workflow.</a:t>
            </a:r>
          </a:p>
          <a:p>
            <a:pPr>
              <a:defRPr sz="1400">
                <a:solidFill>
                  <a:srgbClr val="1F2A37"/>
                </a:solidFill>
              </a:defRPr>
            </a:pPr>
            <a:r>
              <a:t>Reusable architecture ready for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645920"/>
            <a:ext cx="4114800" cy="4114800"/>
          </a:xfrm>
          <a:prstGeom prst="round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400">
                <a:solidFill>
                  <a:srgbClr val="C4D8EE"/>
                </a:solidFill>
              </a:defRPr>
            </a:pPr>
            <a:r>
              <a:t>Questions?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676"/>
                </a:solidFill>
              </a:defRPr>
            </a:pPr>
            <a:r>
              <a:t>Seat Booking System | Demo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